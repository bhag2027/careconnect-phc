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tkinson Hyperlegible" charset="1" panose="00000000000000000000"/>
      <p:regular r:id="rId16"/>
    </p:embeddedFont>
    <p:embeddedFont>
      <p:font typeface="Nunito Sans" charset="1" panose="00000000000000000000"/>
      <p:regular r:id="rId17"/>
    </p:embeddedFont>
    <p:embeddedFont>
      <p:font typeface="Genty" charset="1" panose="00000500000000000000"/>
      <p:regular r:id="rId18"/>
    </p:embeddedFont>
    <p:embeddedFont>
      <p:font typeface="Nunito Sans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https://www.scribd.com/document/520913748/poultry-management-system"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8F0"/>
        </a:solidFill>
      </p:bgPr>
    </p:bg>
    <p:spTree>
      <p:nvGrpSpPr>
        <p:cNvPr id="1" name=""/>
        <p:cNvGrpSpPr/>
        <p:nvPr/>
      </p:nvGrpSpPr>
      <p:grpSpPr>
        <a:xfrm>
          <a:off x="0" y="0"/>
          <a:ext cx="0" cy="0"/>
          <a:chOff x="0" y="0"/>
          <a:chExt cx="0" cy="0"/>
        </a:xfrm>
      </p:grpSpPr>
      <p:sp>
        <p:nvSpPr>
          <p:cNvPr name="Freeform 2" id="2"/>
          <p:cNvSpPr/>
          <p:nvPr/>
        </p:nvSpPr>
        <p:spPr>
          <a:xfrm flipH="false" flipV="false" rot="0">
            <a:off x="14580905" y="6684681"/>
            <a:ext cx="8424068" cy="8413538"/>
          </a:xfrm>
          <a:custGeom>
            <a:avLst/>
            <a:gdLst/>
            <a:ahLst/>
            <a:cxnLst/>
            <a:rect r="r" b="b" t="t" l="l"/>
            <a:pathLst>
              <a:path h="8413538" w="8424068">
                <a:moveTo>
                  <a:pt x="0" y="0"/>
                </a:moveTo>
                <a:lnTo>
                  <a:pt x="8424069" y="0"/>
                </a:lnTo>
                <a:lnTo>
                  <a:pt x="8424069"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36847" y="-4619865"/>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787221" y="2320131"/>
            <a:ext cx="12918471" cy="2534985"/>
          </a:xfrm>
          <a:prstGeom prst="rect">
            <a:avLst/>
          </a:prstGeom>
        </p:spPr>
        <p:txBody>
          <a:bodyPr anchor="t" rtlCol="false" tIns="0" lIns="0" bIns="0" rIns="0">
            <a:spAutoFit/>
          </a:bodyPr>
          <a:lstStyle/>
          <a:p>
            <a:pPr algn="ctr">
              <a:lnSpc>
                <a:spcPts val="9802"/>
              </a:lnSpc>
            </a:pPr>
            <a:r>
              <a:rPr lang="en-US" sz="9802" u="sng">
                <a:solidFill>
                  <a:srgbClr val="051D40"/>
                </a:solidFill>
                <a:latin typeface="Atkinson Hyperlegible"/>
                <a:ea typeface="Atkinson Hyperlegible"/>
                <a:cs typeface="Atkinson Hyperlegible"/>
                <a:sym typeface="Atkinson Hyperlegible"/>
              </a:rPr>
              <a:t>Smart Poultry Farm Management</a:t>
            </a:r>
          </a:p>
        </p:txBody>
      </p:sp>
      <p:sp>
        <p:nvSpPr>
          <p:cNvPr name="TextBox 5" id="5"/>
          <p:cNvSpPr txBox="true"/>
          <p:nvPr/>
        </p:nvSpPr>
        <p:spPr>
          <a:xfrm rot="0">
            <a:off x="0" y="7050579"/>
            <a:ext cx="7081734" cy="898526"/>
          </a:xfrm>
          <a:prstGeom prst="rect">
            <a:avLst/>
          </a:prstGeom>
        </p:spPr>
        <p:txBody>
          <a:bodyPr anchor="t" rtlCol="false" tIns="0" lIns="0" bIns="0" rIns="0">
            <a:spAutoFit/>
          </a:bodyPr>
          <a:lstStyle/>
          <a:p>
            <a:pPr algn="ctr">
              <a:lnSpc>
                <a:spcPts val="3500"/>
              </a:lnSpc>
            </a:pPr>
            <a:r>
              <a:rPr lang="en-US" sz="3500">
                <a:solidFill>
                  <a:srgbClr val="051D40"/>
                </a:solidFill>
                <a:latin typeface="Nunito Sans"/>
                <a:ea typeface="Nunito Sans"/>
                <a:cs typeface="Nunito Sans"/>
                <a:sym typeface="Nunito Sans"/>
              </a:rPr>
              <a:t>submitted by:Bhagya K Ajayan</a:t>
            </a:r>
          </a:p>
          <a:p>
            <a:pPr algn="ctr">
              <a:lnSpc>
                <a:spcPts val="3500"/>
              </a:lnSpc>
            </a:pPr>
            <a:r>
              <a:rPr lang="en-US" sz="3500">
                <a:solidFill>
                  <a:srgbClr val="051D40"/>
                </a:solidFill>
                <a:latin typeface="Nunito Sans"/>
                <a:ea typeface="Nunito Sans"/>
                <a:cs typeface="Nunito Sans"/>
                <a:sym typeface="Nunito Sans"/>
              </a:rPr>
              <a:t>Guide:Dr.Santhosh Kottam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Freeform 2" id="2"/>
          <p:cNvSpPr/>
          <p:nvPr/>
        </p:nvSpPr>
        <p:spPr>
          <a:xfrm flipH="false" flipV="false" rot="0">
            <a:off x="14075966" y="8026486"/>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18531" y="-5695168"/>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521936" y="526259"/>
            <a:ext cx="10384637" cy="1609725"/>
          </a:xfrm>
          <a:prstGeom prst="rect">
            <a:avLst/>
          </a:prstGeom>
        </p:spPr>
        <p:txBody>
          <a:bodyPr anchor="t" rtlCol="false" tIns="0" lIns="0" bIns="0" rIns="0">
            <a:spAutoFit/>
          </a:bodyPr>
          <a:lstStyle/>
          <a:p>
            <a:pPr algn="ctr">
              <a:lnSpc>
                <a:spcPts val="12000"/>
              </a:lnSpc>
            </a:pPr>
            <a:r>
              <a:rPr lang="en-US" sz="12000" u="sng">
                <a:solidFill>
                  <a:srgbClr val="051D40"/>
                </a:solidFill>
                <a:latin typeface="Genty"/>
                <a:ea typeface="Genty"/>
                <a:cs typeface="Genty"/>
                <a:sym typeface="Genty"/>
              </a:rPr>
              <a:t>Objective</a:t>
            </a:r>
          </a:p>
        </p:txBody>
      </p:sp>
      <p:sp>
        <p:nvSpPr>
          <p:cNvPr name="TextBox 5" id="5"/>
          <p:cNvSpPr txBox="true"/>
          <p:nvPr/>
        </p:nvSpPr>
        <p:spPr>
          <a:xfrm rot="0">
            <a:off x="1028700" y="3180997"/>
            <a:ext cx="16505059" cy="3800475"/>
          </a:xfrm>
          <a:prstGeom prst="rect">
            <a:avLst/>
          </a:prstGeom>
        </p:spPr>
        <p:txBody>
          <a:bodyPr anchor="t" rtlCol="false" tIns="0" lIns="0" bIns="0" rIns="0">
            <a:spAutoFit/>
          </a:bodyPr>
          <a:lstStyle/>
          <a:p>
            <a:pPr algn="ctr" marL="777752" indent="-388876" lvl="1">
              <a:lnSpc>
                <a:spcPts val="4322"/>
              </a:lnSpc>
              <a:buFont typeface="Arial"/>
              <a:buChar char="•"/>
            </a:pPr>
            <a:r>
              <a:rPr lang="en-US" sz="3602">
                <a:solidFill>
                  <a:srgbClr val="051D40"/>
                </a:solidFill>
                <a:latin typeface="Atkinson Hyperlegible"/>
                <a:ea typeface="Atkinson Hyperlegible"/>
                <a:cs typeface="Atkinson Hyperlegible"/>
                <a:sym typeface="Atkinson Hyperlegible"/>
              </a:rPr>
              <a:t>Develop a user-friendly web platform using the MERN stack to manage poultry farm operations efficiently.                                                                                </a:t>
            </a:r>
          </a:p>
          <a:p>
            <a:pPr algn="ctr" marL="777752" indent="-388876" lvl="1">
              <a:lnSpc>
                <a:spcPts val="4322"/>
              </a:lnSpc>
              <a:buFont typeface="Arial"/>
              <a:buChar char="•"/>
            </a:pPr>
            <a:r>
              <a:rPr lang="en-US" sz="3602">
                <a:solidFill>
                  <a:srgbClr val="051D40"/>
                </a:solidFill>
                <a:latin typeface="Atkinson Hyperlegible"/>
                <a:ea typeface="Atkinson Hyperlegible"/>
                <a:cs typeface="Atkinson Hyperlegible"/>
                <a:sym typeface="Atkinson Hyperlegible"/>
              </a:rPr>
              <a:t>This platform aims to simplify and automate the management of bookings,       inventory, and sales for chicks, feed, and medicines.                                  </a:t>
            </a:r>
          </a:p>
          <a:p>
            <a:pPr algn="ctr">
              <a:lnSpc>
                <a:spcPts val="4322"/>
              </a:lnSpc>
            </a:pPr>
          </a:p>
          <a:p>
            <a:pPr algn="ctr" marL="777752" indent="-388876" lvl="1">
              <a:lnSpc>
                <a:spcPts val="4322"/>
              </a:lnSpc>
              <a:buFont typeface="Arial"/>
              <a:buChar char="•"/>
            </a:pPr>
            <a:r>
              <a:rPr lang="en-US" sz="3602">
                <a:solidFill>
                  <a:srgbClr val="051D40"/>
                </a:solidFill>
                <a:latin typeface="Atkinson Hyperlegible"/>
                <a:ea typeface="Atkinson Hyperlegible"/>
                <a:cs typeface="Atkinson Hyperlegible"/>
                <a:sym typeface="Atkinson Hyperlegible"/>
              </a:rPr>
              <a:t>Enhance productivity by automating tasks and reducing manual effort.            </a:t>
            </a:r>
          </a:p>
          <a:p>
            <a:pPr algn="ctr">
              <a:lnSpc>
                <a:spcPts val="4322"/>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Freeform 2" id="2"/>
          <p:cNvSpPr/>
          <p:nvPr/>
        </p:nvSpPr>
        <p:spPr>
          <a:xfrm flipH="false" flipV="false" rot="0">
            <a:off x="11966107" y="8611375"/>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5133" y="-5798355"/>
            <a:ext cx="7766021" cy="7756313"/>
          </a:xfrm>
          <a:custGeom>
            <a:avLst/>
            <a:gdLst/>
            <a:ahLst/>
            <a:cxnLst/>
            <a:rect r="r" b="b" t="t" l="l"/>
            <a:pathLst>
              <a:path h="7756313" w="7766021">
                <a:moveTo>
                  <a:pt x="0" y="0"/>
                </a:moveTo>
                <a:lnTo>
                  <a:pt x="7766021" y="0"/>
                </a:lnTo>
                <a:lnTo>
                  <a:pt x="7766021" y="7756313"/>
                </a:lnTo>
                <a:lnTo>
                  <a:pt x="0" y="7756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891748" y="1491557"/>
            <a:ext cx="10384637" cy="1609725"/>
          </a:xfrm>
          <a:prstGeom prst="rect">
            <a:avLst/>
          </a:prstGeom>
        </p:spPr>
        <p:txBody>
          <a:bodyPr anchor="t" rtlCol="false" tIns="0" lIns="0" bIns="0" rIns="0">
            <a:spAutoFit/>
          </a:bodyPr>
          <a:lstStyle/>
          <a:p>
            <a:pPr algn="ctr">
              <a:lnSpc>
                <a:spcPts val="12000"/>
              </a:lnSpc>
            </a:pPr>
            <a:r>
              <a:rPr lang="en-US" sz="12000" u="sng">
                <a:solidFill>
                  <a:srgbClr val="051D40"/>
                </a:solidFill>
                <a:latin typeface="Genty"/>
                <a:ea typeface="Genty"/>
                <a:cs typeface="Genty"/>
                <a:sym typeface="Genty"/>
              </a:rPr>
              <a:t>Related Works</a:t>
            </a:r>
          </a:p>
        </p:txBody>
      </p:sp>
      <p:sp>
        <p:nvSpPr>
          <p:cNvPr name="TextBox 5" id="5"/>
          <p:cNvSpPr txBox="true"/>
          <p:nvPr/>
        </p:nvSpPr>
        <p:spPr>
          <a:xfrm rot="0">
            <a:off x="562511" y="3695707"/>
            <a:ext cx="16919717" cy="3657600"/>
          </a:xfrm>
          <a:prstGeom prst="rect">
            <a:avLst/>
          </a:prstGeom>
        </p:spPr>
        <p:txBody>
          <a:bodyPr anchor="t" rtlCol="false" tIns="0" lIns="0" bIns="0" rIns="0">
            <a:spAutoFit/>
          </a:bodyPr>
          <a:lstStyle/>
          <a:p>
            <a:pPr algn="ctr" marL="755647" indent="-377824" lvl="1">
              <a:lnSpc>
                <a:spcPts val="4199"/>
              </a:lnSpc>
              <a:buFont typeface="Arial"/>
              <a:buChar char="•"/>
            </a:pPr>
            <a:r>
              <a:rPr lang="en-US" sz="3499">
                <a:solidFill>
                  <a:srgbClr val="051D40"/>
                </a:solidFill>
                <a:latin typeface="Nunito Sans"/>
                <a:ea typeface="Nunito Sans"/>
                <a:cs typeface="Nunito Sans"/>
                <a:sym typeface="Nunito Sans"/>
              </a:rPr>
              <a:t> Farmers manually contact vendors to book chicks, feed, and medicines, often   using phone calls.                                                                                                       </a:t>
            </a:r>
          </a:p>
          <a:p>
            <a:pPr algn="ctr" marL="755647" indent="-377824" lvl="1">
              <a:lnSpc>
                <a:spcPts val="4199"/>
              </a:lnSpc>
              <a:buFont typeface="Arial"/>
              <a:buChar char="•"/>
            </a:pPr>
            <a:r>
              <a:rPr lang="en-US" sz="3499">
                <a:solidFill>
                  <a:srgbClr val="051D40"/>
                </a:solidFill>
                <a:latin typeface="Nunito Sans"/>
                <a:ea typeface="Nunito Sans"/>
                <a:cs typeface="Nunito Sans"/>
                <a:sym typeface="Nunito Sans"/>
              </a:rPr>
              <a:t>Stock levels for chicks, feed, and medicines are tracked manually                       </a:t>
            </a:r>
          </a:p>
          <a:p>
            <a:pPr algn="ctr" marL="755647" indent="-377824" lvl="1">
              <a:lnSpc>
                <a:spcPts val="4199"/>
              </a:lnSpc>
              <a:buFont typeface="Arial"/>
              <a:buChar char="•"/>
            </a:pPr>
            <a:r>
              <a:rPr lang="en-US" sz="3499">
                <a:solidFill>
                  <a:srgbClr val="051D40"/>
                </a:solidFill>
                <a:latin typeface="Nunito Sans"/>
                <a:ea typeface="Nunito Sans"/>
                <a:cs typeface="Nunito Sans"/>
                <a:sym typeface="Nunito Sans"/>
              </a:rPr>
              <a:t>Prices for chicks, feed, and medicines are updated manually, requiring frequent communication between vendors and farmers.                                                       </a:t>
            </a:r>
          </a:p>
          <a:p>
            <a:pPr algn="ctr" marL="755647" indent="-377824" lvl="1">
              <a:lnSpc>
                <a:spcPts val="4199"/>
              </a:lnSpc>
              <a:buFont typeface="Arial"/>
              <a:buChar char="•"/>
            </a:pPr>
            <a:r>
              <a:rPr lang="en-US" sz="3499">
                <a:solidFill>
                  <a:srgbClr val="051D40"/>
                </a:solidFill>
                <a:latin typeface="Nunito Sans"/>
                <a:ea typeface="Nunito Sans"/>
                <a:cs typeface="Nunito Sans"/>
                <a:sym typeface="Nunito Sans"/>
              </a:rPr>
              <a:t>Prices for chicks, feed, and medicines are updated through WhatsApp groups.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Freeform 2" id="2"/>
          <p:cNvSpPr/>
          <p:nvPr/>
        </p:nvSpPr>
        <p:spPr>
          <a:xfrm flipH="false" flipV="false" rot="0">
            <a:off x="11966107" y="8611375"/>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5133" y="-5798355"/>
            <a:ext cx="7766021" cy="7756313"/>
          </a:xfrm>
          <a:custGeom>
            <a:avLst/>
            <a:gdLst/>
            <a:ahLst/>
            <a:cxnLst/>
            <a:rect r="r" b="b" t="t" l="l"/>
            <a:pathLst>
              <a:path h="7756313" w="7766021">
                <a:moveTo>
                  <a:pt x="0" y="0"/>
                </a:moveTo>
                <a:lnTo>
                  <a:pt x="7766021" y="0"/>
                </a:lnTo>
                <a:lnTo>
                  <a:pt x="7766021" y="7756313"/>
                </a:lnTo>
                <a:lnTo>
                  <a:pt x="0" y="7756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891748" y="1472507"/>
            <a:ext cx="12130477" cy="1424313"/>
          </a:xfrm>
          <a:prstGeom prst="rect">
            <a:avLst/>
          </a:prstGeom>
        </p:spPr>
        <p:txBody>
          <a:bodyPr anchor="t" rtlCol="false" tIns="0" lIns="0" bIns="0" rIns="0">
            <a:spAutoFit/>
          </a:bodyPr>
          <a:lstStyle/>
          <a:p>
            <a:pPr algn="ctr">
              <a:lnSpc>
                <a:spcPts val="10700"/>
              </a:lnSpc>
            </a:pPr>
            <a:r>
              <a:rPr lang="en-US" sz="10700" u="sng">
                <a:solidFill>
                  <a:srgbClr val="051D40"/>
                </a:solidFill>
                <a:latin typeface="Genty"/>
                <a:ea typeface="Genty"/>
                <a:cs typeface="Genty"/>
                <a:sym typeface="Genty"/>
              </a:rPr>
              <a:t>Problem Description</a:t>
            </a:r>
          </a:p>
        </p:txBody>
      </p:sp>
      <p:sp>
        <p:nvSpPr>
          <p:cNvPr name="TextBox 5" id="5"/>
          <p:cNvSpPr txBox="true"/>
          <p:nvPr/>
        </p:nvSpPr>
        <p:spPr>
          <a:xfrm rot="0">
            <a:off x="1028700" y="3319680"/>
            <a:ext cx="16230600" cy="5753100"/>
          </a:xfrm>
          <a:prstGeom prst="rect">
            <a:avLst/>
          </a:prstGeom>
        </p:spPr>
        <p:txBody>
          <a:bodyPr anchor="t" rtlCol="false" tIns="0" lIns="0" bIns="0" rIns="0">
            <a:spAutoFit/>
          </a:bodyPr>
          <a:lstStyle/>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Automated Booking:</a:t>
            </a:r>
            <a:r>
              <a:rPr lang="en-US" sz="3499">
                <a:solidFill>
                  <a:srgbClr val="051D40"/>
                </a:solidFill>
                <a:latin typeface="Nunito Sans"/>
                <a:ea typeface="Nunito Sans"/>
                <a:cs typeface="Nunito Sans"/>
                <a:sym typeface="Nunito Sans"/>
              </a:rPr>
              <a:t> Implement an integrated platform for booking chicks, feed and medicines, allowing farmers to make bookings directly and  receive confirmation automatically.                                                     </a:t>
            </a:r>
          </a:p>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Real-Time Rate Management:</a:t>
            </a:r>
            <a:r>
              <a:rPr lang="en-US" sz="3499">
                <a:solidFill>
                  <a:srgbClr val="051D40"/>
                </a:solidFill>
                <a:latin typeface="Nunito Sans"/>
                <a:ea typeface="Nunito Sans"/>
                <a:cs typeface="Nunito Sans"/>
                <a:sym typeface="Nunito Sans"/>
              </a:rPr>
              <a:t> Develop a system for real-time rate updates that eliminates the need for manual communication via WhatsApp. Rates for chicks, feed, and medicines will be updated automatically in the system.                                                                </a:t>
            </a:r>
          </a:p>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Streamlined Orders:</a:t>
            </a:r>
            <a:r>
              <a:rPr lang="en-US" sz="3499">
                <a:solidFill>
                  <a:srgbClr val="051D40"/>
                </a:solidFill>
                <a:latin typeface="Nunito Sans"/>
                <a:ea typeface="Nunito Sans"/>
                <a:cs typeface="Nunito Sans"/>
                <a:sym typeface="Nunito Sans"/>
              </a:rPr>
              <a:t> Automate the order booking and approval process, improving efficiency and providing clear visibility into order status and    also generates reports.                                                                                                  </a:t>
            </a:r>
          </a:p>
          <a:p>
            <a:pPr algn="ctr">
              <a:lnSpc>
                <a:spcPts val="41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Freeform 2" id="2"/>
          <p:cNvSpPr/>
          <p:nvPr/>
        </p:nvSpPr>
        <p:spPr>
          <a:xfrm flipH="false" flipV="false" rot="0">
            <a:off x="11966107" y="8611375"/>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5133" y="-5798355"/>
            <a:ext cx="7766021" cy="7756313"/>
          </a:xfrm>
          <a:custGeom>
            <a:avLst/>
            <a:gdLst/>
            <a:ahLst/>
            <a:cxnLst/>
            <a:rect r="r" b="b" t="t" l="l"/>
            <a:pathLst>
              <a:path h="7756313" w="7766021">
                <a:moveTo>
                  <a:pt x="0" y="0"/>
                </a:moveTo>
                <a:lnTo>
                  <a:pt x="7766021" y="0"/>
                </a:lnTo>
                <a:lnTo>
                  <a:pt x="7766021" y="7756313"/>
                </a:lnTo>
                <a:lnTo>
                  <a:pt x="0" y="7756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891748" y="1472507"/>
            <a:ext cx="12130477" cy="1424313"/>
          </a:xfrm>
          <a:prstGeom prst="rect">
            <a:avLst/>
          </a:prstGeom>
        </p:spPr>
        <p:txBody>
          <a:bodyPr anchor="t" rtlCol="false" tIns="0" lIns="0" bIns="0" rIns="0">
            <a:spAutoFit/>
          </a:bodyPr>
          <a:lstStyle/>
          <a:p>
            <a:pPr algn="ctr">
              <a:lnSpc>
                <a:spcPts val="10700"/>
              </a:lnSpc>
            </a:pPr>
            <a:r>
              <a:rPr lang="en-US" sz="10700" u="sng">
                <a:solidFill>
                  <a:srgbClr val="051D40"/>
                </a:solidFill>
                <a:latin typeface="Genty"/>
                <a:ea typeface="Genty"/>
                <a:cs typeface="Genty"/>
                <a:sym typeface="Genty"/>
              </a:rPr>
              <a:t>System Design</a:t>
            </a:r>
          </a:p>
        </p:txBody>
      </p:sp>
      <p:sp>
        <p:nvSpPr>
          <p:cNvPr name="TextBox 5" id="5"/>
          <p:cNvSpPr txBox="true"/>
          <p:nvPr/>
        </p:nvSpPr>
        <p:spPr>
          <a:xfrm rot="0">
            <a:off x="1297291" y="3225550"/>
            <a:ext cx="16248241" cy="6276975"/>
          </a:xfrm>
          <a:prstGeom prst="rect">
            <a:avLst/>
          </a:prstGeom>
        </p:spPr>
        <p:txBody>
          <a:bodyPr anchor="t" rtlCol="false" tIns="0" lIns="0" bIns="0" rIns="0">
            <a:spAutoFit/>
          </a:bodyPr>
          <a:lstStyle/>
          <a:p>
            <a:pPr algn="ctr">
              <a:lnSpc>
                <a:spcPts val="4199"/>
              </a:lnSpc>
            </a:pPr>
            <a:r>
              <a:rPr lang="en-US" b="true" sz="3499">
                <a:solidFill>
                  <a:srgbClr val="051D40"/>
                </a:solidFill>
                <a:latin typeface="Nunito Sans Bold"/>
                <a:ea typeface="Nunito Sans Bold"/>
                <a:cs typeface="Nunito Sans Bold"/>
                <a:sym typeface="Nunito Sans Bold"/>
              </a:rPr>
              <a:t>Major Modules / Components</a:t>
            </a:r>
          </a:p>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Login/Registration:</a:t>
            </a:r>
            <a:r>
              <a:rPr lang="en-US" sz="3499">
                <a:solidFill>
                  <a:srgbClr val="051D40"/>
                </a:solidFill>
                <a:latin typeface="Nunito Sans"/>
                <a:ea typeface="Nunito Sans"/>
                <a:cs typeface="Nunito Sans"/>
                <a:sym typeface="Nunito Sans"/>
              </a:rPr>
              <a:t>Allows users, vendors, and admins to create and manage their accounts and login.</a:t>
            </a:r>
          </a:p>
          <a:p>
            <a:pPr algn="ctr">
              <a:lnSpc>
                <a:spcPts val="4199"/>
              </a:lnSpc>
            </a:pPr>
          </a:p>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Booking</a:t>
            </a:r>
            <a:r>
              <a:rPr lang="en-US" sz="3499">
                <a:solidFill>
                  <a:srgbClr val="051D40"/>
                </a:solidFill>
                <a:latin typeface="Nunito Sans"/>
                <a:ea typeface="Nunito Sans"/>
                <a:cs typeface="Nunito Sans"/>
                <a:sym typeface="Nunito Sans"/>
              </a:rPr>
              <a:t>:Manages the booking of chicks, feed, and medicines.                            </a:t>
            </a:r>
          </a:p>
          <a:p>
            <a:pPr algn="ctr">
              <a:lnSpc>
                <a:spcPts val="4199"/>
              </a:lnSpc>
            </a:pPr>
            <a:r>
              <a:rPr lang="en-US" sz="3499">
                <a:solidFill>
                  <a:srgbClr val="051D40"/>
                </a:solidFill>
                <a:latin typeface="Nunito Sans"/>
                <a:ea typeface="Nunito Sans"/>
                <a:cs typeface="Nunito Sans"/>
                <a:sym typeface="Nunito Sans"/>
              </a:rPr>
              <a:t>                 1.Chick Booking: Farmers can place orders for chicks based on availability.</a:t>
            </a:r>
          </a:p>
          <a:p>
            <a:pPr algn="ctr">
              <a:lnSpc>
                <a:spcPts val="4199"/>
              </a:lnSpc>
            </a:pPr>
            <a:r>
              <a:rPr lang="en-US" sz="3499">
                <a:solidFill>
                  <a:srgbClr val="051D40"/>
                </a:solidFill>
                <a:latin typeface="Nunito Sans"/>
                <a:ea typeface="Nunito Sans"/>
                <a:cs typeface="Nunito Sans"/>
                <a:sym typeface="Nunito Sans"/>
              </a:rPr>
              <a:t>                  2.</a:t>
            </a:r>
            <a:r>
              <a:rPr lang="en-US" sz="3499">
                <a:solidFill>
                  <a:srgbClr val="051D40"/>
                </a:solidFill>
                <a:latin typeface="Nunito Sans"/>
                <a:ea typeface="Nunito Sans"/>
                <a:cs typeface="Nunito Sans"/>
                <a:sym typeface="Nunito Sans"/>
              </a:rPr>
              <a:t>Feed Booking: Farmers can book feed as needed for their poultry.</a:t>
            </a:r>
          </a:p>
          <a:p>
            <a:pPr algn="ctr">
              <a:lnSpc>
                <a:spcPts val="4199"/>
              </a:lnSpc>
            </a:pPr>
            <a:r>
              <a:rPr lang="en-US" sz="3499">
                <a:solidFill>
                  <a:srgbClr val="051D40"/>
                </a:solidFill>
                <a:latin typeface="Nunito Sans"/>
                <a:ea typeface="Nunito Sans"/>
                <a:cs typeface="Nunito Sans"/>
                <a:sym typeface="Nunito Sans"/>
              </a:rPr>
              <a:t>                    3.</a:t>
            </a:r>
            <a:r>
              <a:rPr lang="en-US" sz="3499">
                <a:solidFill>
                  <a:srgbClr val="051D40"/>
                </a:solidFill>
                <a:latin typeface="Nunito Sans"/>
                <a:ea typeface="Nunito Sans"/>
                <a:cs typeface="Nunito Sans"/>
                <a:sym typeface="Nunito Sans"/>
              </a:rPr>
              <a:t>Medicine Booking: Allows farmers to order medicines required for their poultry.</a:t>
            </a:r>
          </a:p>
          <a:p>
            <a:pPr algn="ctr">
              <a:lnSpc>
                <a:spcPts val="4199"/>
              </a:lnSpc>
            </a:pPr>
          </a:p>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Daily Rate Post</a:t>
            </a:r>
            <a:r>
              <a:rPr lang="en-US" sz="3499">
                <a:solidFill>
                  <a:srgbClr val="051D40"/>
                </a:solidFill>
                <a:latin typeface="Nunito Sans"/>
                <a:ea typeface="Nunito Sans"/>
                <a:cs typeface="Nunito Sans"/>
                <a:sym typeface="Nunito Sans"/>
              </a:rPr>
              <a:t>:Manages the daily updating of rates.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Freeform 2" id="2"/>
          <p:cNvSpPr/>
          <p:nvPr/>
        </p:nvSpPr>
        <p:spPr>
          <a:xfrm flipH="false" flipV="false" rot="0">
            <a:off x="11966107" y="8611375"/>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5133" y="-5798355"/>
            <a:ext cx="7766021" cy="7756313"/>
          </a:xfrm>
          <a:custGeom>
            <a:avLst/>
            <a:gdLst/>
            <a:ahLst/>
            <a:cxnLst/>
            <a:rect r="r" b="b" t="t" l="l"/>
            <a:pathLst>
              <a:path h="7756313" w="7766021">
                <a:moveTo>
                  <a:pt x="0" y="0"/>
                </a:moveTo>
                <a:lnTo>
                  <a:pt x="7766021" y="0"/>
                </a:lnTo>
                <a:lnTo>
                  <a:pt x="7766021" y="7756313"/>
                </a:lnTo>
                <a:lnTo>
                  <a:pt x="0" y="7756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891748" y="1472507"/>
            <a:ext cx="12130477" cy="1424313"/>
          </a:xfrm>
          <a:prstGeom prst="rect">
            <a:avLst/>
          </a:prstGeom>
        </p:spPr>
        <p:txBody>
          <a:bodyPr anchor="t" rtlCol="false" tIns="0" lIns="0" bIns="0" rIns="0">
            <a:spAutoFit/>
          </a:bodyPr>
          <a:lstStyle/>
          <a:p>
            <a:pPr algn="ctr">
              <a:lnSpc>
                <a:spcPts val="10700"/>
              </a:lnSpc>
            </a:pPr>
            <a:r>
              <a:rPr lang="en-US" sz="10700" u="sng">
                <a:solidFill>
                  <a:srgbClr val="051D40"/>
                </a:solidFill>
                <a:latin typeface="Genty"/>
                <a:ea typeface="Genty"/>
                <a:cs typeface="Genty"/>
                <a:sym typeface="Genty"/>
              </a:rPr>
              <a:t>System Design</a:t>
            </a:r>
          </a:p>
        </p:txBody>
      </p:sp>
      <p:sp>
        <p:nvSpPr>
          <p:cNvPr name="TextBox 5" id="5"/>
          <p:cNvSpPr txBox="true"/>
          <p:nvPr/>
        </p:nvSpPr>
        <p:spPr>
          <a:xfrm rot="0">
            <a:off x="786968" y="2906346"/>
            <a:ext cx="16235257" cy="3657600"/>
          </a:xfrm>
          <a:prstGeom prst="rect">
            <a:avLst/>
          </a:prstGeom>
        </p:spPr>
        <p:txBody>
          <a:bodyPr anchor="t" rtlCol="false" tIns="0" lIns="0" bIns="0" rIns="0">
            <a:spAutoFit/>
          </a:bodyPr>
          <a:lstStyle/>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Reports:</a:t>
            </a:r>
            <a:r>
              <a:rPr lang="en-US" sz="3499">
                <a:solidFill>
                  <a:srgbClr val="051D40"/>
                </a:solidFill>
                <a:latin typeface="Nunito Sans"/>
                <a:ea typeface="Nunito Sans"/>
                <a:cs typeface="Nunito Sans"/>
                <a:sym typeface="Nunito Sans"/>
              </a:rPr>
              <a:t>Provides comprehensive reporting and analytics</a:t>
            </a:r>
            <a:r>
              <a:rPr lang="en-US" sz="3499">
                <a:solidFill>
                  <a:srgbClr val="051D40"/>
                </a:solidFill>
                <a:latin typeface="Nunito Sans"/>
                <a:ea typeface="Nunito Sans"/>
                <a:cs typeface="Nunito Sans"/>
                <a:sym typeface="Nunito Sans"/>
              </a:rPr>
              <a:t> f</a:t>
            </a:r>
            <a:r>
              <a:rPr lang="en-US" sz="3499">
                <a:solidFill>
                  <a:srgbClr val="051D40"/>
                </a:solidFill>
                <a:latin typeface="Nunito Sans"/>
                <a:ea typeface="Nunito Sans"/>
                <a:cs typeface="Nunito Sans"/>
                <a:sym typeface="Nunito Sans"/>
              </a:rPr>
              <a:t>or various aspects of poultry farm management.</a:t>
            </a:r>
          </a:p>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Inventory Management:                                                                                        </a:t>
            </a:r>
          </a:p>
          <a:p>
            <a:pPr algn="ctr">
              <a:lnSpc>
                <a:spcPts val="4199"/>
              </a:lnSpc>
            </a:pPr>
            <a:r>
              <a:rPr lang="en-US" sz="3499">
                <a:solidFill>
                  <a:srgbClr val="051D40"/>
                </a:solidFill>
                <a:latin typeface="Nunito Sans"/>
                <a:ea typeface="Nunito Sans"/>
                <a:cs typeface="Nunito Sans"/>
                <a:sym typeface="Nunito Sans"/>
              </a:rPr>
              <a:t>Chicks: Add and manage stock of chicks.                                                 </a:t>
            </a:r>
          </a:p>
          <a:p>
            <a:pPr algn="ctr">
              <a:lnSpc>
                <a:spcPts val="4199"/>
              </a:lnSpc>
            </a:pPr>
            <a:r>
              <a:rPr lang="en-US" sz="3499">
                <a:solidFill>
                  <a:srgbClr val="051D40"/>
                </a:solidFill>
                <a:latin typeface="Nunito Sans"/>
                <a:ea typeface="Nunito Sans"/>
                <a:cs typeface="Nunito Sans"/>
                <a:sym typeface="Nunito Sans"/>
              </a:rPr>
              <a:t>Feed and Medicines: Add and manage stock of feed and medicines</a:t>
            </a:r>
          </a:p>
          <a:p>
            <a:pPr algn="ctr">
              <a:lnSpc>
                <a:spcPts val="4199"/>
              </a:lnSpc>
            </a:pPr>
          </a:p>
          <a:p>
            <a:pPr algn="ctr">
              <a:lnSpc>
                <a:spcPts val="419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Freeform 2" id="2"/>
          <p:cNvSpPr/>
          <p:nvPr/>
        </p:nvSpPr>
        <p:spPr>
          <a:xfrm flipH="false" flipV="false" rot="0">
            <a:off x="11966107" y="8611375"/>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5133" y="-5798355"/>
            <a:ext cx="7766021" cy="7756313"/>
          </a:xfrm>
          <a:custGeom>
            <a:avLst/>
            <a:gdLst/>
            <a:ahLst/>
            <a:cxnLst/>
            <a:rect r="r" b="b" t="t" l="l"/>
            <a:pathLst>
              <a:path h="7756313" w="7766021">
                <a:moveTo>
                  <a:pt x="0" y="0"/>
                </a:moveTo>
                <a:lnTo>
                  <a:pt x="7766021" y="0"/>
                </a:lnTo>
                <a:lnTo>
                  <a:pt x="7766021" y="7756313"/>
                </a:lnTo>
                <a:lnTo>
                  <a:pt x="0" y="7756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891748" y="1453457"/>
            <a:ext cx="12130477" cy="1294145"/>
          </a:xfrm>
          <a:prstGeom prst="rect">
            <a:avLst/>
          </a:prstGeom>
        </p:spPr>
        <p:txBody>
          <a:bodyPr anchor="t" rtlCol="false" tIns="0" lIns="0" bIns="0" rIns="0">
            <a:spAutoFit/>
          </a:bodyPr>
          <a:lstStyle/>
          <a:p>
            <a:pPr algn="ctr">
              <a:lnSpc>
                <a:spcPts val="9700"/>
              </a:lnSpc>
            </a:pPr>
            <a:r>
              <a:rPr lang="en-US" sz="9700" u="sng">
                <a:solidFill>
                  <a:srgbClr val="051D40"/>
                </a:solidFill>
                <a:latin typeface="Genty"/>
                <a:ea typeface="Genty"/>
                <a:cs typeface="Genty"/>
                <a:sym typeface="Genty"/>
              </a:rPr>
              <a:t>Tools and Technologies</a:t>
            </a:r>
          </a:p>
        </p:txBody>
      </p:sp>
      <p:sp>
        <p:nvSpPr>
          <p:cNvPr name="TextBox 5" id="5"/>
          <p:cNvSpPr txBox="true"/>
          <p:nvPr/>
        </p:nvSpPr>
        <p:spPr>
          <a:xfrm rot="0">
            <a:off x="562511" y="3906025"/>
            <a:ext cx="17725489" cy="4705350"/>
          </a:xfrm>
          <a:prstGeom prst="rect">
            <a:avLst/>
          </a:prstGeom>
        </p:spPr>
        <p:txBody>
          <a:bodyPr anchor="t" rtlCol="false" tIns="0" lIns="0" bIns="0" rIns="0">
            <a:spAutoFit/>
          </a:bodyPr>
          <a:lstStyle/>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Frontend: </a:t>
            </a:r>
            <a:r>
              <a:rPr lang="en-US" sz="3499">
                <a:solidFill>
                  <a:srgbClr val="051D40"/>
                </a:solidFill>
                <a:latin typeface="Nunito Sans"/>
                <a:ea typeface="Nunito Sans"/>
                <a:cs typeface="Nunito Sans"/>
                <a:sym typeface="Nunito Sans"/>
              </a:rPr>
              <a:t>React.js for building interactive user interfaces.                                     </a:t>
            </a:r>
          </a:p>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Backend: </a:t>
            </a:r>
            <a:r>
              <a:rPr lang="en-US" sz="3499">
                <a:solidFill>
                  <a:srgbClr val="051D40"/>
                </a:solidFill>
                <a:latin typeface="Nunito Sans"/>
                <a:ea typeface="Nunito Sans"/>
                <a:cs typeface="Nunito Sans"/>
                <a:sym typeface="Nunito Sans"/>
              </a:rPr>
              <a:t>Node.js with Express.js for server-side logic.                                           </a:t>
            </a:r>
          </a:p>
          <a:p>
            <a:pPr algn="ctr" marL="755647" indent="-377824" lvl="1">
              <a:lnSpc>
                <a:spcPts val="4199"/>
              </a:lnSpc>
              <a:buFont typeface="Arial"/>
              <a:buChar char="•"/>
            </a:pPr>
            <a:r>
              <a:rPr lang="en-US" b="true" sz="3499">
                <a:solidFill>
                  <a:srgbClr val="051D40"/>
                </a:solidFill>
                <a:latin typeface="Nunito Sans Bold"/>
                <a:ea typeface="Nunito Sans Bold"/>
                <a:cs typeface="Nunito Sans Bold"/>
                <a:sym typeface="Nunito Sans Bold"/>
              </a:rPr>
              <a:t>Database: </a:t>
            </a:r>
            <a:r>
              <a:rPr lang="en-US" sz="3499">
                <a:solidFill>
                  <a:srgbClr val="051D40"/>
                </a:solidFill>
                <a:latin typeface="Nunito Sans"/>
                <a:ea typeface="Nunito Sans"/>
                <a:cs typeface="Nunito Sans"/>
                <a:sym typeface="Nunito Sans"/>
              </a:rPr>
              <a:t>MongoDB for storing inventory, bookings, and rate information. </a:t>
            </a:r>
          </a:p>
          <a:p>
            <a:pPr algn="ctr">
              <a:lnSpc>
                <a:spcPts val="4199"/>
              </a:lnSpc>
            </a:pPr>
          </a:p>
          <a:p>
            <a:pPr algn="ctr">
              <a:lnSpc>
                <a:spcPts val="4199"/>
              </a:lnSpc>
            </a:pPr>
            <a:r>
              <a:rPr lang="en-US" sz="3499">
                <a:solidFill>
                  <a:srgbClr val="051D40"/>
                </a:solidFill>
                <a:latin typeface="Nunito Sans"/>
                <a:ea typeface="Nunito Sans"/>
                <a:cs typeface="Nunito Sans"/>
                <a:sym typeface="Nunito Sans"/>
              </a:rPr>
              <a:t>           </a:t>
            </a:r>
            <a:r>
              <a:rPr lang="en-US" b="true" sz="3499" u="sng">
                <a:solidFill>
                  <a:srgbClr val="051D40"/>
                </a:solidFill>
                <a:latin typeface="Nunito Sans Bold"/>
                <a:ea typeface="Nunito Sans Bold"/>
                <a:cs typeface="Nunito Sans Bold"/>
                <a:sym typeface="Nunito Sans Bold"/>
              </a:rPr>
              <a:t>Additional Tools:      </a:t>
            </a:r>
            <a:r>
              <a:rPr lang="en-US" b="true" sz="3499">
                <a:solidFill>
                  <a:srgbClr val="051D40"/>
                </a:solidFill>
                <a:latin typeface="Nunito Sans Bold"/>
                <a:ea typeface="Nunito Sans Bold"/>
                <a:cs typeface="Nunito Sans Bold"/>
                <a:sym typeface="Nunito Sans Bold"/>
              </a:rPr>
              <a:t>                                                                             </a:t>
            </a:r>
          </a:p>
          <a:p>
            <a:pPr algn="ctr" marL="755647" indent="-377824" lvl="1">
              <a:lnSpc>
                <a:spcPts val="4199"/>
              </a:lnSpc>
              <a:buFont typeface="Arial"/>
              <a:buChar char="•"/>
            </a:pPr>
            <a:r>
              <a:rPr lang="en-US" sz="3499">
                <a:solidFill>
                  <a:srgbClr val="051D40"/>
                </a:solidFill>
                <a:latin typeface="Nunito Sans"/>
                <a:ea typeface="Nunito Sans"/>
                <a:cs typeface="Nunito Sans"/>
                <a:sym typeface="Nunito Sans"/>
              </a:rPr>
              <a:t>Git/GitHub for version control.                                                     </a:t>
            </a:r>
          </a:p>
          <a:p>
            <a:pPr algn="ctr" marL="755647" indent="-377824" lvl="1">
              <a:lnSpc>
                <a:spcPts val="4199"/>
              </a:lnSpc>
              <a:buFont typeface="Arial"/>
              <a:buChar char="•"/>
            </a:pPr>
            <a:r>
              <a:rPr lang="en-US" sz="3499">
                <a:solidFill>
                  <a:srgbClr val="051D40"/>
                </a:solidFill>
                <a:latin typeface="Nunito Sans"/>
                <a:ea typeface="Nunito Sans"/>
                <a:cs typeface="Nunito Sans"/>
                <a:sym typeface="Nunito Sans"/>
              </a:rPr>
              <a:t>Postman for API testing.                                                               </a:t>
            </a:r>
          </a:p>
          <a:p>
            <a:pPr algn="ctr" marL="755647" indent="-377824" lvl="1">
              <a:lnSpc>
                <a:spcPts val="4199"/>
              </a:lnSpc>
              <a:buFont typeface="Arial"/>
              <a:buChar char="•"/>
            </a:pPr>
            <a:r>
              <a:rPr lang="en-US" sz="3499">
                <a:solidFill>
                  <a:srgbClr val="051D40"/>
                </a:solidFill>
                <a:latin typeface="Nunito Sans"/>
                <a:ea typeface="Nunito Sans"/>
                <a:cs typeface="Nunito Sans"/>
                <a:sym typeface="Nunito Sans"/>
              </a:rPr>
              <a:t>VS Code as the development environment.                               </a:t>
            </a:r>
          </a:p>
          <a:p>
            <a:pPr algn="ctr">
              <a:lnSpc>
                <a:spcPts val="419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Freeform 2" id="2"/>
          <p:cNvSpPr/>
          <p:nvPr/>
        </p:nvSpPr>
        <p:spPr>
          <a:xfrm flipH="false" flipV="false" rot="0">
            <a:off x="11966107" y="8611375"/>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5133" y="-5798355"/>
            <a:ext cx="7766021" cy="7756313"/>
          </a:xfrm>
          <a:custGeom>
            <a:avLst/>
            <a:gdLst/>
            <a:ahLst/>
            <a:cxnLst/>
            <a:rect r="r" b="b" t="t" l="l"/>
            <a:pathLst>
              <a:path h="7756313" w="7766021">
                <a:moveTo>
                  <a:pt x="0" y="0"/>
                </a:moveTo>
                <a:lnTo>
                  <a:pt x="7766021" y="0"/>
                </a:lnTo>
                <a:lnTo>
                  <a:pt x="7766021" y="7756313"/>
                </a:lnTo>
                <a:lnTo>
                  <a:pt x="0" y="7756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891748" y="1453457"/>
            <a:ext cx="12130477" cy="1294145"/>
          </a:xfrm>
          <a:prstGeom prst="rect">
            <a:avLst/>
          </a:prstGeom>
        </p:spPr>
        <p:txBody>
          <a:bodyPr anchor="t" rtlCol="false" tIns="0" lIns="0" bIns="0" rIns="0">
            <a:spAutoFit/>
          </a:bodyPr>
          <a:lstStyle/>
          <a:p>
            <a:pPr algn="ctr">
              <a:lnSpc>
                <a:spcPts val="9700"/>
              </a:lnSpc>
            </a:pPr>
            <a:r>
              <a:rPr lang="en-US" sz="9700" u="sng">
                <a:solidFill>
                  <a:srgbClr val="051D40"/>
                </a:solidFill>
                <a:latin typeface="Genty"/>
                <a:ea typeface="Genty"/>
                <a:cs typeface="Genty"/>
                <a:sym typeface="Genty"/>
              </a:rPr>
              <a:t>Conclusion</a:t>
            </a:r>
          </a:p>
        </p:txBody>
      </p:sp>
      <p:sp>
        <p:nvSpPr>
          <p:cNvPr name="TextBox 5" id="5"/>
          <p:cNvSpPr txBox="true"/>
          <p:nvPr/>
        </p:nvSpPr>
        <p:spPr>
          <a:xfrm rot="0">
            <a:off x="562511" y="3906025"/>
            <a:ext cx="16973435" cy="2609850"/>
          </a:xfrm>
          <a:prstGeom prst="rect">
            <a:avLst/>
          </a:prstGeom>
        </p:spPr>
        <p:txBody>
          <a:bodyPr anchor="t" rtlCol="false" tIns="0" lIns="0" bIns="0" rIns="0">
            <a:spAutoFit/>
          </a:bodyPr>
          <a:lstStyle/>
          <a:p>
            <a:pPr algn="ctr">
              <a:lnSpc>
                <a:spcPts val="4199"/>
              </a:lnSpc>
            </a:pPr>
            <a:r>
              <a:rPr lang="en-US" b="true" sz="3499">
                <a:solidFill>
                  <a:srgbClr val="051D40"/>
                </a:solidFill>
                <a:latin typeface="Nunito Sans Bold"/>
                <a:ea typeface="Nunito Sans Bold"/>
                <a:cs typeface="Nunito Sans Bold"/>
                <a:sym typeface="Nunito Sans Bold"/>
              </a:rPr>
              <a:t>The Smart Poultry Farm Management System aims to improve poultry farm management using modern web technologies. It automates key processes to make farm operations more efficient. Built with the MERN stack, this project combines various features into one easy-to-use platform. It addresses the challenges and inefficiencies of traditional poultry farm management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Freeform 2" id="2"/>
          <p:cNvSpPr/>
          <p:nvPr/>
        </p:nvSpPr>
        <p:spPr>
          <a:xfrm flipH="false" flipV="false" rot="0">
            <a:off x="11966107" y="8611375"/>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5133" y="-5798355"/>
            <a:ext cx="7766021" cy="7756313"/>
          </a:xfrm>
          <a:custGeom>
            <a:avLst/>
            <a:gdLst/>
            <a:ahLst/>
            <a:cxnLst/>
            <a:rect r="r" b="b" t="t" l="l"/>
            <a:pathLst>
              <a:path h="7756313" w="7766021">
                <a:moveTo>
                  <a:pt x="0" y="0"/>
                </a:moveTo>
                <a:lnTo>
                  <a:pt x="7766021" y="0"/>
                </a:lnTo>
                <a:lnTo>
                  <a:pt x="7766021" y="7756313"/>
                </a:lnTo>
                <a:lnTo>
                  <a:pt x="0" y="7756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951681" y="3234156"/>
            <a:ext cx="10384637" cy="1609725"/>
          </a:xfrm>
          <a:prstGeom prst="rect">
            <a:avLst/>
          </a:prstGeom>
        </p:spPr>
        <p:txBody>
          <a:bodyPr anchor="t" rtlCol="false" tIns="0" lIns="0" bIns="0" rIns="0">
            <a:spAutoFit/>
          </a:bodyPr>
          <a:lstStyle/>
          <a:p>
            <a:pPr algn="ctr">
              <a:lnSpc>
                <a:spcPts val="12000"/>
              </a:lnSpc>
            </a:pPr>
            <a:r>
              <a:rPr lang="en-US" sz="12000" u="sng">
                <a:solidFill>
                  <a:srgbClr val="051D40"/>
                </a:solidFill>
                <a:latin typeface="Genty"/>
                <a:ea typeface="Genty"/>
                <a:cs typeface="Genty"/>
                <a:sym typeface="Genty"/>
              </a:rPr>
              <a:t>References</a:t>
            </a:r>
          </a:p>
        </p:txBody>
      </p:sp>
      <p:sp>
        <p:nvSpPr>
          <p:cNvPr name="TextBox 5" id="5"/>
          <p:cNvSpPr txBox="true"/>
          <p:nvPr/>
        </p:nvSpPr>
        <p:spPr>
          <a:xfrm rot="0">
            <a:off x="1413117" y="5225711"/>
            <a:ext cx="15058880" cy="1038225"/>
          </a:xfrm>
          <a:prstGeom prst="rect">
            <a:avLst/>
          </a:prstGeom>
        </p:spPr>
        <p:txBody>
          <a:bodyPr anchor="t" rtlCol="false" tIns="0" lIns="0" bIns="0" rIns="0">
            <a:spAutoFit/>
          </a:bodyPr>
          <a:lstStyle/>
          <a:p>
            <a:pPr algn="ctr">
              <a:lnSpc>
                <a:spcPts val="4199"/>
              </a:lnSpc>
            </a:pPr>
            <a:r>
              <a:rPr lang="en-US" sz="3499" u="sng">
                <a:solidFill>
                  <a:srgbClr val="051D40"/>
                </a:solidFill>
                <a:latin typeface="Nunito Sans"/>
                <a:ea typeface="Nunito Sans"/>
                <a:cs typeface="Nunito Sans"/>
                <a:sym typeface="Nunito Sans"/>
                <a:hlinkClick r:id="rId4" tooltip="https://www.scribd.com/document/520913748/poultry-management-system"/>
              </a:rPr>
              <a:t>https://www.scribd.com/document/520913748/poultry-management-system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Freeform 2" id="2"/>
          <p:cNvSpPr/>
          <p:nvPr/>
        </p:nvSpPr>
        <p:spPr>
          <a:xfrm flipH="false" flipV="false" rot="0">
            <a:off x="15217732" y="7102154"/>
            <a:ext cx="8424068" cy="8413538"/>
          </a:xfrm>
          <a:custGeom>
            <a:avLst/>
            <a:gdLst/>
            <a:ahLst/>
            <a:cxnLst/>
            <a:rect r="r" b="b" t="t" l="l"/>
            <a:pathLst>
              <a:path h="8413538" w="8424068">
                <a:moveTo>
                  <a:pt x="0" y="0"/>
                </a:moveTo>
                <a:lnTo>
                  <a:pt x="8424068" y="0"/>
                </a:lnTo>
                <a:lnTo>
                  <a:pt x="8424068" y="8413538"/>
                </a:lnTo>
                <a:lnTo>
                  <a:pt x="0" y="84135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83010" y="-4628577"/>
            <a:ext cx="7766021" cy="7756313"/>
          </a:xfrm>
          <a:custGeom>
            <a:avLst/>
            <a:gdLst/>
            <a:ahLst/>
            <a:cxnLst/>
            <a:rect r="r" b="b" t="t" l="l"/>
            <a:pathLst>
              <a:path h="7756313" w="7766021">
                <a:moveTo>
                  <a:pt x="0" y="0"/>
                </a:moveTo>
                <a:lnTo>
                  <a:pt x="7766020" y="0"/>
                </a:lnTo>
                <a:lnTo>
                  <a:pt x="7766020" y="7756313"/>
                </a:lnTo>
                <a:lnTo>
                  <a:pt x="0" y="77563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794610" y="2746375"/>
            <a:ext cx="8698781" cy="5184776"/>
          </a:xfrm>
          <a:prstGeom prst="rect">
            <a:avLst/>
          </a:prstGeom>
        </p:spPr>
        <p:txBody>
          <a:bodyPr anchor="t" rtlCol="false" tIns="0" lIns="0" bIns="0" rIns="0">
            <a:spAutoFit/>
          </a:bodyPr>
          <a:lstStyle/>
          <a:p>
            <a:pPr algn="ctr">
              <a:lnSpc>
                <a:spcPts val="20000"/>
              </a:lnSpc>
            </a:pPr>
            <a:r>
              <a:rPr lang="en-US" sz="20000">
                <a:solidFill>
                  <a:srgbClr val="051D40"/>
                </a:solidFill>
                <a:latin typeface="Genty"/>
                <a:ea typeface="Genty"/>
                <a:cs typeface="Genty"/>
                <a:sym typeface="Gent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DAGP6Cwv9IA</dc:identifier>
  <dcterms:modified xsi:type="dcterms:W3CDTF">2011-08-01T06:04:30Z</dcterms:modified>
  <cp:revision>1</cp:revision>
  <dc:title>Blue and White Abstract Modern Simple Creative Portfolio Presentation</dc:title>
</cp:coreProperties>
</file>